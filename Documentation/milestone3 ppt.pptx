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04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92981" y="800100"/>
            <a:ext cx="7158038" cy="3529013"/>
          </a:xfrm>
          <a:prstGeom prst="rect">
            <a:avLst/>
          </a:prstGeom>
          <a:solidFill>
            <a:srgbClr val="FFFFFF"/>
          </a:solidFill>
          <a:ln w="9144">
            <a:solidFill>
              <a:srgbClr val="1A3C5A">
                <a:alpha val="1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00125" y="807244"/>
            <a:ext cx="2583191" cy="3514725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958" y="2052935"/>
            <a:ext cx="771525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30056" y="2933402"/>
            <a:ext cx="92333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WELLBOT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3926216" y="1781780"/>
            <a:ext cx="3874759" cy="9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1A3C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WellBot – Global Wellness Assistant</a:t>
            </a:r>
            <a:endParaRPr lang="en-US" sz="2755" dirty="0"/>
          </a:p>
        </p:txBody>
      </p:sp>
      <p:sp>
        <p:nvSpPr>
          <p:cNvPr id="8" name="Text 4"/>
          <p:cNvSpPr/>
          <p:nvPr/>
        </p:nvSpPr>
        <p:spPr>
          <a:xfrm>
            <a:off x="3926216" y="2850440"/>
            <a:ext cx="387475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2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3 Progress</a:t>
            </a:r>
            <a:endParaRPr lang="en-US" sz="1397" dirty="0"/>
          </a:p>
        </p:txBody>
      </p:sp>
      <p:sp>
        <p:nvSpPr>
          <p:cNvPr id="9" name="Shape 5"/>
          <p:cNvSpPr/>
          <p:nvPr/>
        </p:nvSpPr>
        <p:spPr>
          <a:xfrm>
            <a:off x="3926216" y="3307640"/>
            <a:ext cx="3874759" cy="29825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6"/>
          <p:cNvSpPr/>
          <p:nvPr/>
        </p:nvSpPr>
        <p:spPr>
          <a:xfrm>
            <a:off x="3926216" y="3307640"/>
            <a:ext cx="28575" cy="298252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91" y="3391579"/>
            <a:ext cx="160734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01263" y="3379077"/>
            <a:ext cx="17912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Role: Frontend Development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1481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Enhancements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910828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38B2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User Experience through Data Visualization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546622"/>
            <a:ext cx="2666991" cy="28003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864519"/>
            <a:ext cx="428625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2632472"/>
            <a:ext cx="22288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3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Users Display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785813" y="3018234"/>
            <a:ext cx="22288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tracking of the growing user base for better scalability insights and performance monitoring.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3228975" y="1546622"/>
            <a:ext cx="2671763" cy="28003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8059" y="1864519"/>
            <a:ext cx="428625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48059" y="2632472"/>
            <a:ext cx="223362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3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Monitoring</a:t>
            </a:r>
            <a:endParaRPr lang="en-US" sz="1397" dirty="0"/>
          </a:p>
        </p:txBody>
      </p:sp>
      <p:sp>
        <p:nvSpPr>
          <p:cNvPr id="12" name="Text 7"/>
          <p:cNvSpPr/>
          <p:nvPr/>
        </p:nvSpPr>
        <p:spPr>
          <a:xfrm>
            <a:off x="3448059" y="3018234"/>
            <a:ext cx="223362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system to capture and display user sentiments directly on the dashboard for rapid response.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5895994" y="1546622"/>
            <a:ext cx="2676534" cy="28003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9794" y="1864519"/>
            <a:ext cx="385763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19794" y="2632472"/>
            <a:ext cx="223836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3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UI</a:t>
            </a:r>
            <a:endParaRPr lang="en-US" sz="1397" dirty="0"/>
          </a:p>
        </p:txBody>
      </p:sp>
      <p:sp>
        <p:nvSpPr>
          <p:cNvPr id="16" name="Text 10"/>
          <p:cNvSpPr/>
          <p:nvPr/>
        </p:nvSpPr>
        <p:spPr>
          <a:xfrm>
            <a:off x="6119794" y="3018234"/>
            <a:ext cx="2238366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Refined navigation and layout for a more intuitive, responsive, and accessible user experience across devices.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Feedback Analytics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917972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38B2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Insights into User Satisfaction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660922"/>
            <a:ext cx="3571875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5813" y="1875234"/>
            <a:ext cx="33575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1,240+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785813" y="2223492"/>
            <a:ext cx="3357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Feedback Collected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71500" y="2661047"/>
            <a:ext cx="3571875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5813" y="2875359"/>
            <a:ext cx="33575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 / 5.0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785813" y="3223617"/>
            <a:ext cx="3357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User Rating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571500" y="3661172"/>
            <a:ext cx="3571875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3661172"/>
            <a:ext cx="357187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4136231" y="3661172"/>
            <a:ext cx="7144" cy="85725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4511278"/>
            <a:ext cx="357187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661172"/>
            <a:ext cx="35719" cy="85725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6" name="Text 13"/>
          <p:cNvSpPr/>
          <p:nvPr/>
        </p:nvSpPr>
        <p:spPr>
          <a:xfrm>
            <a:off x="785813" y="3875484"/>
            <a:ext cx="33575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64%</a:t>
            </a:r>
            <a:endParaRPr lang="en-US" sz="1808" dirty="0"/>
          </a:p>
        </p:txBody>
      </p:sp>
      <p:sp>
        <p:nvSpPr>
          <p:cNvPr id="17" name="Text 14"/>
          <p:cNvSpPr/>
          <p:nvPr/>
        </p:nvSpPr>
        <p:spPr>
          <a:xfrm>
            <a:off x="785813" y="4223742"/>
            <a:ext cx="3357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 Feedback Percentage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5000625" y="1553766"/>
            <a:ext cx="3571875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60554" y="1839516"/>
            <a:ext cx="185201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3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Sentiment Distribution</a:t>
            </a:r>
            <a:endParaRPr lang="en-US" sz="1193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260997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85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Stress Classification Feature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917972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38B2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Questionnaire-Based Assessment for Personalized Care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525191"/>
            <a:ext cx="8001000" cy="64293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801118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57313" y="1740396"/>
            <a:ext cx="68008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Stress Levels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1357313" y="1958280"/>
            <a:ext cx="68008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the frequency and intensity of perceived stress in daily activities.</a:t>
            </a:r>
            <a:endParaRPr lang="en-US" sz="834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025" y="1860947"/>
            <a:ext cx="114300" cy="1143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71500" y="2275284"/>
            <a:ext cx="8001000" cy="64293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551212"/>
            <a:ext cx="28575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57313" y="2490490"/>
            <a:ext cx="68008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Sleep Quality &amp; Duration</a:t>
            </a:r>
            <a:endParaRPr lang="en-US" sz="1090" dirty="0"/>
          </a:p>
        </p:txBody>
      </p:sp>
      <p:sp>
        <p:nvSpPr>
          <p:cNvPr id="13" name="Text 7"/>
          <p:cNvSpPr/>
          <p:nvPr/>
        </p:nvSpPr>
        <p:spPr>
          <a:xfrm>
            <a:off x="1357313" y="2708374"/>
            <a:ext cx="68008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rest patterns and their impact on cognitive and physical recovery.</a:t>
            </a:r>
            <a:endParaRPr lang="en-US" sz="834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025" y="2611041"/>
            <a:ext cx="114300" cy="1143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71500" y="3025378"/>
            <a:ext cx="8001000" cy="64293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301305"/>
            <a:ext cx="17145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57313" y="3240584"/>
            <a:ext cx="68008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 &amp; Vitality</a:t>
            </a:r>
            <a:endParaRPr lang="en-US" sz="1090" dirty="0"/>
          </a:p>
        </p:txBody>
      </p:sp>
      <p:sp>
        <p:nvSpPr>
          <p:cNvPr id="18" name="Text 10"/>
          <p:cNvSpPr/>
          <p:nvPr/>
        </p:nvSpPr>
        <p:spPr>
          <a:xfrm>
            <a:off x="1357313" y="3458468"/>
            <a:ext cx="68008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Assessing overall physical energy levels and resistance to fatigue.</a:t>
            </a:r>
            <a:endParaRPr lang="en-US" sz="834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025" y="3361134"/>
            <a:ext cx="114300" cy="114300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571500" y="3775472"/>
            <a:ext cx="8001000" cy="64293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3" y="4051399"/>
            <a:ext cx="228600" cy="2286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357313" y="3990677"/>
            <a:ext cx="68008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Anxiety &amp; Emotional State</a:t>
            </a:r>
            <a:endParaRPr lang="en-US" sz="1090" dirty="0"/>
          </a:p>
        </p:txBody>
      </p:sp>
      <p:sp>
        <p:nvSpPr>
          <p:cNvPr id="23" name="Text 13"/>
          <p:cNvSpPr/>
          <p:nvPr/>
        </p:nvSpPr>
        <p:spPr>
          <a:xfrm>
            <a:off x="1357313" y="4208562"/>
            <a:ext cx="68008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early signs of emotional distress and psychological tension.</a:t>
            </a:r>
            <a:endParaRPr lang="en-US" sz="834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025" y="4111228"/>
            <a:ext cx="114300" cy="11430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571500" y="4525566"/>
            <a:ext cx="8001000" cy="64293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813" y="4801493"/>
            <a:ext cx="228600" cy="2286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1357313" y="4740771"/>
            <a:ext cx="68008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Pressure</a:t>
            </a:r>
            <a:endParaRPr lang="en-US" sz="1090" dirty="0"/>
          </a:p>
        </p:txBody>
      </p:sp>
      <p:sp>
        <p:nvSpPr>
          <p:cNvPr id="28" name="Text 16"/>
          <p:cNvSpPr/>
          <p:nvPr/>
        </p:nvSpPr>
        <p:spPr>
          <a:xfrm>
            <a:off x="1357313" y="4958655"/>
            <a:ext cx="68008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Measuring the impact of work, social, and environmental demands.</a:t>
            </a:r>
            <a:endParaRPr lang="en-US" sz="834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025" y="4861322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Stress Level Categories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917972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38B2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Wellness Management through Color-Coded Alerts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553766"/>
            <a:ext cx="1857375" cy="285750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" y="1553766"/>
            <a:ext cx="1857375" cy="85725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4"/>
          <p:cNvSpPr/>
          <p:nvPr/>
        </p:nvSpPr>
        <p:spPr>
          <a:xfrm>
            <a:off x="1228725" y="1783259"/>
            <a:ext cx="5429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25%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117104" y="2026146"/>
            <a:ext cx="7661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ALERT</a:t>
            </a:r>
            <a:endParaRPr lang="en-US" sz="885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738" y="2728913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375" y="3325416"/>
            <a:ext cx="1571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stage requiring immediate attention and intervention.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2619356" y="1553766"/>
            <a:ext cx="1857375" cy="285750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619356" y="1553766"/>
            <a:ext cx="1857375" cy="85725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3" name="Text 9"/>
          <p:cNvSpPr/>
          <p:nvPr/>
        </p:nvSpPr>
        <p:spPr>
          <a:xfrm>
            <a:off x="3161388" y="1783259"/>
            <a:ext cx="77331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– 50%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3007798" y="2026146"/>
            <a:ext cx="10804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 ALERT</a:t>
            </a:r>
            <a:endParaRPr lang="en-US" sz="885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8025" y="2728913"/>
            <a:ext cx="300038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62231" y="3325416"/>
            <a:ext cx="1571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 stage indicating significant stress levels.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4667213" y="1553766"/>
            <a:ext cx="1857375" cy="285750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667213" y="1553766"/>
            <a:ext cx="1857375" cy="85725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9" name="Text 14"/>
          <p:cNvSpPr/>
          <p:nvPr/>
        </p:nvSpPr>
        <p:spPr>
          <a:xfrm>
            <a:off x="5214603" y="1783259"/>
            <a:ext cx="76259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– 75%</a:t>
            </a:r>
            <a:endParaRPr lang="en-US" sz="1193" dirty="0"/>
          </a:p>
        </p:txBody>
      </p:sp>
      <p:sp>
        <p:nvSpPr>
          <p:cNvPr id="20" name="Text 15"/>
          <p:cNvSpPr/>
          <p:nvPr/>
        </p:nvSpPr>
        <p:spPr>
          <a:xfrm>
            <a:off x="5152095" y="2026146"/>
            <a:ext cx="8876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OKAY STAGE</a:t>
            </a:r>
            <a:endParaRPr lang="en-US" sz="885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4450" y="2728913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10088" y="3325416"/>
            <a:ext cx="1571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condition with room for wellness optimization.</a:t>
            </a:r>
            <a:endParaRPr lang="en-US" sz="942" dirty="0"/>
          </a:p>
        </p:txBody>
      </p:sp>
      <p:sp>
        <p:nvSpPr>
          <p:cNvPr id="23" name="Shape 17"/>
          <p:cNvSpPr/>
          <p:nvPr/>
        </p:nvSpPr>
        <p:spPr>
          <a:xfrm>
            <a:off x="6715069" y="1553766"/>
            <a:ext cx="1857375" cy="285750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715069" y="1553766"/>
            <a:ext cx="1857375" cy="85725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5" name="Text 19"/>
          <p:cNvSpPr/>
          <p:nvPr/>
        </p:nvSpPr>
        <p:spPr>
          <a:xfrm>
            <a:off x="7222275" y="1783259"/>
            <a:ext cx="8429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 – 100%</a:t>
            </a:r>
            <a:endParaRPr lang="en-US" sz="1193" dirty="0"/>
          </a:p>
        </p:txBody>
      </p:sp>
      <p:sp>
        <p:nvSpPr>
          <p:cNvPr id="26" name="Text 20"/>
          <p:cNvSpPr/>
          <p:nvPr/>
        </p:nvSpPr>
        <p:spPr>
          <a:xfrm>
            <a:off x="7159768" y="2026146"/>
            <a:ext cx="9679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STAGE</a:t>
            </a:r>
            <a:endParaRPr lang="en-US" sz="885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2307" y="2728913"/>
            <a:ext cx="342900" cy="342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57944" y="3325416"/>
            <a:ext cx="1571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 wellness and high resilience levels.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On-screen Show (16:9)</PresentationFormat>
  <Paragraphs>52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Inter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Abi</cp:lastModifiedBy>
  <cp:revision>1</cp:revision>
  <dcterms:created xsi:type="dcterms:W3CDTF">2026-03-04T16:19:10Z</dcterms:created>
  <dcterms:modified xsi:type="dcterms:W3CDTF">2026-03-16T16:07:50Z</dcterms:modified>
</cp:coreProperties>
</file>